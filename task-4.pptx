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9" r:id="rId3"/>
    <p:sldId id="269" r:id="rId4"/>
    <p:sldId id="264" r:id="rId5"/>
    <p:sldId id="260" r:id="rId6"/>
    <p:sldId id="261" r:id="rId7"/>
    <p:sldId id="262" r:id="rId8"/>
    <p:sldId id="265" r:id="rId9"/>
    <p:sldId id="263" r:id="rId10"/>
    <p:sldId id="268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4" y="32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86282-5EEE-417A-AB82-39017E45C81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AE8EF-DBFD-4731-A737-DB34895397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46CD246-99FB-4755-95AA-5E7D3097CE4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03E5AD6-3B75-479D-BE16-0BDB88B462E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4B873A5-6C2D-4300-AB18-7AC3A4ECDD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2A8E8F8-5B45-407D-9B02-44A5F49C18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DE39181-051F-4C14-A6A9-9175DD6371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E4B32F2-1DE7-43D0-BF5B-65AC697D75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2B0B2D4-8FC1-47E6-BBDF-C54CB6A24B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9E82F6B-55B8-4177-91FE-5D2DE4B707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F8159CB-181B-4DA5-BCE6-7D579B573E7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22B001A-2403-4B58-8330-4860E338425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913CBBFE-A302-4029-A8F6-1CB4E5ACF1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D7FF2-845F-41B9-944F-35B90659B7D6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6242252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IN" sz="4400" b="1" i="0" u="none" strike="noStrike">
                <a:latin typeface="+mn-lt"/>
                <a:cs typeface="+mn-cs"/>
              </a:rPr>
              <a:t>Name:</a:t>
            </a:r>
            <a:r>
              <a:rPr lang="en-IN" sz="4400" b="0" i="0" u="none" strike="noStrike">
                <a:latin typeface="+mn-lt"/>
                <a:cs typeface="+mn-cs"/>
              </a:rPr>
              <a:t> </a:t>
            </a:r>
            <a:r>
              <a:rPr lang="en-US" sz="4400" b="0" i="0" u="none" strike="noStrike">
                <a:latin typeface="+mn-lt"/>
                <a:cs typeface="+mn-cs"/>
              </a:rPr>
              <a:t>Sifa Yusuf Kazi</a:t>
            </a:r>
            <a:br>
              <a:rPr lang="en-IN" sz="4400" b="0" i="0" u="none" strike="noStrike">
                <a:latin typeface="+mn-lt"/>
                <a:cs typeface="+mn-cs"/>
              </a:rPr>
            </a:br>
            <a:r>
              <a:rPr lang="en-IN" sz="4400" b="1" i="0" u="none" strike="noStrike">
                <a:latin typeface="+mn-lt"/>
                <a:cs typeface="+mn-cs"/>
              </a:rPr>
              <a:t>Role:</a:t>
            </a:r>
            <a:r>
              <a:rPr lang="en-IN" sz="4400" b="0" i="0" u="none" strike="noStrike">
                <a:latin typeface="+mn-lt"/>
                <a:cs typeface="+mn-cs"/>
              </a:rPr>
              <a:t> Data Analyst Intern</a:t>
            </a:r>
            <a:br>
              <a:rPr lang="en-IN" sz="4400" b="0" i="0" u="none" strike="noStrike">
                <a:latin typeface="+mn-lt"/>
                <a:cs typeface="+mn-cs"/>
              </a:rPr>
            </a:br>
            <a:r>
              <a:rPr lang="en-IN" sz="4400" b="1" i="0" u="none" strike="noStrike">
                <a:latin typeface="+mn-lt"/>
                <a:cs typeface="+mn-cs"/>
              </a:rPr>
              <a:t>Tool Used:</a:t>
            </a:r>
            <a:r>
              <a:rPr lang="en-IN" sz="4400" b="0" i="0" u="none" strike="noStrike">
                <a:latin typeface="+mn-lt"/>
                <a:cs typeface="+mn-cs"/>
              </a:rPr>
              <a:t> Power BI</a:t>
            </a:r>
            <a:br>
              <a:rPr lang="en-IN" sz="4400" b="0" i="0" u="none" strike="noStrike">
                <a:latin typeface="+mn-lt"/>
                <a:cs typeface="+mn-cs"/>
              </a:rPr>
            </a:br>
            <a:r>
              <a:rPr lang="en-IN" sz="4400" b="1" i="0" u="none" strike="noStrike">
                <a:latin typeface="+mn-lt"/>
                <a:cs typeface="+mn-cs"/>
              </a:rPr>
              <a:t>Dataset Used:</a:t>
            </a:r>
            <a:r>
              <a:rPr lang="en-IN" sz="4400" b="0" i="0" u="none" strike="noStrike">
                <a:latin typeface="+mn-lt"/>
                <a:cs typeface="+mn-cs"/>
              </a:rPr>
              <a:t> Superstore Sales Dataset (Kaggle)</a:t>
            </a:r>
            <a:br>
              <a:rPr lang="en-IN" sz="4400" b="0" i="0" u="none" strike="noStrike">
                <a:latin typeface="+mn-lt"/>
                <a:cs typeface="+mn-cs"/>
              </a:rPr>
            </a:br>
            <a:r>
              <a:rPr lang="en-IN" sz="4400" b="1" i="0" u="none" strike="noStrike">
                <a:latin typeface="+mn-lt"/>
                <a:cs typeface="+mn-cs"/>
              </a:rPr>
              <a:t>Project Type:</a:t>
            </a:r>
            <a:r>
              <a:rPr lang="en-IN" sz="4400" b="0" i="0" u="none" strike="noStrike">
                <a:latin typeface="+mn-lt"/>
                <a:cs typeface="+mn-cs"/>
              </a:rPr>
              <a:t> Sales &amp; Profit Analysis Dashboard</a:t>
            </a:r>
            <a:br>
              <a:rPr lang="en-IN" sz="4400" b="0" i="0" u="none" strike="noStrike">
                <a:latin typeface="+mn-lt"/>
                <a:cs typeface="+mn-cs"/>
              </a:rPr>
            </a:br>
            <a:r>
              <a:rPr lang="en-IN" sz="4400" b="1" i="0" u="none" strike="noStrike">
                <a:latin typeface="+mn-lt"/>
                <a:cs typeface="+mn-cs"/>
              </a:rPr>
              <a:t>Date:</a:t>
            </a:r>
            <a:r>
              <a:rPr lang="en-IN" sz="4400" b="0" i="0" u="none" strike="noStrike">
                <a:latin typeface="+mn-lt"/>
                <a:cs typeface="+mn-cs"/>
              </a:rPr>
              <a:t> </a:t>
            </a:r>
            <a:r>
              <a:rPr lang="en-US" sz="4400" b="0" i="0" u="none" strike="noStrike">
                <a:latin typeface="+mn-lt"/>
                <a:cs typeface="+mn-cs"/>
              </a:rPr>
              <a:t>15/12/25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6069" y="181902"/>
            <a:ext cx="11966877" cy="62690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225865" y="365125"/>
            <a:ext cx="11722260" cy="6341306"/>
          </a:xfrm>
          <a:prstGeom prst="rect">
            <a:avLst/>
          </a:prstGeom>
        </p:spPr>
        <p:txBody>
          <a:bodyPr/>
          <a:lstStyle/>
          <a:p>
            <a:r>
              <a:rPr sz="3200" b="1" u="sng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Slide </a:t>
            </a:r>
            <a:r>
              <a:rPr lang="en-US" sz="3200" b="1" u="sng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1</a:t>
            </a:r>
            <a:r>
              <a:rPr sz="3200" b="1" u="sng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— Dashboard Overview</a:t>
            </a:r>
          </a:p>
          <a:p>
            <a:endParaRPr sz="32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sz="3200" b="1">
                <a:latin typeface="Calibri" panose="020F0502020204030204"/>
                <a:ea typeface="Calibri" panose="020F0502020204030204"/>
                <a:cs typeface="Calibri" panose="020F0502020204030204"/>
              </a:rPr>
              <a:t>Dashboard Title:</a:t>
            </a:r>
            <a:r>
              <a:rPr sz="3200">
                <a:latin typeface="Calibri" panose="020F0502020204030204"/>
                <a:ea typeface="Calibri" panose="020F0502020204030204"/>
                <a:cs typeface="Calibri" panose="020F0502020204030204"/>
              </a:rPr>
              <a:t> Sales &amp; Profit Analysis Dashboard</a:t>
            </a:r>
          </a:p>
          <a:p>
            <a:endParaRPr sz="32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sz="3200" b="1">
                <a:latin typeface="Calibri" panose="020F0502020204030204"/>
                <a:ea typeface="Calibri" panose="020F0502020204030204"/>
                <a:cs typeface="Calibri" panose="020F0502020204030204"/>
              </a:rPr>
              <a:t>Objective:</a:t>
            </a:r>
          </a:p>
          <a:p>
            <a:r>
              <a:rPr sz="3200">
                <a:latin typeface="Calibri" panose="020F0502020204030204"/>
                <a:ea typeface="Calibri" panose="020F0502020204030204"/>
                <a:cs typeface="Calibri" panose="020F0502020204030204"/>
              </a:rPr>
              <a:t>To design an interactive dashboard for business stakeholders that provides a clear overview of sales performance, profit trends, growth percentage, and order analysis using interactive visuals and filters.</a:t>
            </a:r>
          </a:p>
          <a:p>
            <a:endParaRPr sz="32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sz="3200">
                <a:latin typeface="Calibri" panose="020F0502020204030204"/>
                <a:ea typeface="Calibri" panose="020F0502020204030204"/>
                <a:cs typeface="Calibri" panose="020F0502020204030204"/>
              </a:rPr>
              <a:t>This dashboard helps decision-makers understand business performance at a glance.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7250803"/>
          </a:xfrm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3200" b="1" i="0" u="sng" strike="noStrike">
                <a:solidFill>
                  <a:schemeClr val="accent1"/>
                </a:solidFill>
                <a:latin typeface="+mn-lt"/>
                <a:cs typeface="+mn-cs"/>
              </a:rPr>
              <a:t>Slide </a:t>
            </a:r>
            <a:r>
              <a:rPr lang="en-US" sz="3200" b="1" i="0" u="sng" strike="noStrike">
                <a:solidFill>
                  <a:schemeClr val="accent1"/>
                </a:solidFill>
                <a:latin typeface="+mn-lt"/>
                <a:cs typeface="+mn-cs"/>
              </a:rPr>
              <a:t>2</a:t>
            </a:r>
            <a:r>
              <a:rPr lang="en-IN" sz="3200" b="1" i="0" u="sng" strike="noStrike">
                <a:solidFill>
                  <a:schemeClr val="accent1"/>
                </a:solidFill>
                <a:latin typeface="+mn-lt"/>
                <a:cs typeface="+mn-cs"/>
              </a:rPr>
              <a:t> — Dashboard KPIs</a:t>
            </a:r>
          </a:p>
          <a:p>
            <a:pPr marL="0" marR="0" indent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3200" b="0" i="0" u="none" strike="noStrike">
                <a:latin typeface="+mn-lt"/>
                <a:cs typeface="+mn-cs"/>
              </a:rPr>
              <a:t>This dashboard highlights the following KPIs:</a:t>
            </a:r>
          </a:p>
          <a:p>
            <a:pPr marL="457200" marR="0" indent="-2286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SzPts val="4000"/>
              <a:buFont typeface="Symbol" pitchFamily="18" charset="2"/>
              <a:buChar char=""/>
            </a:pPr>
            <a:r>
              <a:rPr lang="en-IN" sz="3200" b="1" i="0" u="none" strike="noStrike">
                <a:latin typeface="+mn-lt"/>
                <a:cs typeface="+mn-cs"/>
              </a:rPr>
              <a:t>Total Sales:</a:t>
            </a:r>
            <a:r>
              <a:rPr lang="en-IN" sz="3200" b="0" i="0" u="none" strike="noStrike">
                <a:latin typeface="+mn-lt"/>
                <a:cs typeface="+mn-cs"/>
              </a:rPr>
              <a:t> 142.45K</a:t>
            </a:r>
          </a:p>
          <a:p>
            <a:pPr marL="457200" marR="0" indent="-2286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SzPts val="4000"/>
              <a:buFont typeface="Symbol" pitchFamily="18" charset="2"/>
              <a:buChar char=""/>
            </a:pPr>
            <a:r>
              <a:rPr lang="en-IN" sz="3200" b="1" i="0" u="none" strike="noStrike">
                <a:latin typeface="+mn-lt"/>
                <a:cs typeface="+mn-cs"/>
              </a:rPr>
              <a:t>Total Profit:</a:t>
            </a:r>
            <a:r>
              <a:rPr lang="en-IN" sz="3200" b="0" i="0" u="none" strike="noStrike">
                <a:latin typeface="+mn-lt"/>
                <a:cs typeface="+mn-cs"/>
              </a:rPr>
              <a:t> 10.86K</a:t>
            </a:r>
          </a:p>
          <a:p>
            <a:pPr marL="457200" marR="0" indent="-2286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SzPts val="4000"/>
              <a:buFont typeface="Symbol" pitchFamily="18" charset="2"/>
              <a:buChar char=""/>
            </a:pPr>
            <a:r>
              <a:rPr lang="en-IN" sz="3200" b="1" i="0" u="none" strike="noStrike">
                <a:latin typeface="+mn-lt"/>
                <a:cs typeface="+mn-cs"/>
              </a:rPr>
              <a:t>Sales Growth:</a:t>
            </a:r>
            <a:r>
              <a:rPr lang="en-IN" sz="3200" b="0" i="0" u="none" strike="noStrike">
                <a:latin typeface="+mn-lt"/>
                <a:cs typeface="+mn-cs"/>
              </a:rPr>
              <a:t> 59.49%</a:t>
            </a:r>
          </a:p>
          <a:p>
            <a:pPr marL="457200" marR="0" indent="-2286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SzPts val="4000"/>
              <a:buFont typeface="Symbol" pitchFamily="18" charset="2"/>
              <a:buChar char=""/>
            </a:pPr>
            <a:r>
              <a:rPr lang="en-IN" sz="3200" b="1" i="0" u="none" strike="noStrike">
                <a:latin typeface="+mn-lt"/>
                <a:cs typeface="+mn-cs"/>
              </a:rPr>
              <a:t>Total Orders:</a:t>
            </a:r>
            <a:r>
              <a:rPr lang="en-IN" sz="3200" b="0" i="0" u="none" strike="noStrike">
                <a:latin typeface="+mn-lt"/>
                <a:cs typeface="+mn-cs"/>
              </a:rPr>
              <a:t> 641</a:t>
            </a:r>
          </a:p>
          <a:p>
            <a:pPr marL="0" marR="0" indent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3200" b="0" i="0" u="none" strike="noStrike">
                <a:latin typeface="+mn-lt"/>
                <a:cs typeface="+mn-cs"/>
              </a:rPr>
              <a:t>These KPIs help understand the overall business performance and growth.</a:t>
            </a:r>
            <a:endParaRPr sz="3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261885" y="149007"/>
            <a:ext cx="11722259" cy="6467374"/>
          </a:xfrm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400" b="1" i="0" u="sng" strike="noStrike">
                <a:solidFill>
                  <a:schemeClr val="accent1"/>
                </a:solidFill>
                <a:latin typeface="+mn-lt"/>
                <a:cs typeface="+mn-cs"/>
              </a:rPr>
              <a:t>Slide </a:t>
            </a:r>
            <a:r>
              <a:rPr lang="en-US" sz="2400" b="1" i="0" u="sng" strike="noStrike">
                <a:solidFill>
                  <a:schemeClr val="accent1"/>
                </a:solidFill>
                <a:latin typeface="+mn-lt"/>
                <a:cs typeface="+mn-cs"/>
              </a:rPr>
              <a:t>3</a:t>
            </a:r>
            <a:r>
              <a:rPr lang="en-IN" sz="2400" b="1" i="0" u="sng" strike="noStrike">
                <a:solidFill>
                  <a:schemeClr val="accent1"/>
                </a:solidFill>
                <a:latin typeface="+mn-lt"/>
                <a:cs typeface="+mn-cs"/>
              </a:rPr>
              <a:t>— Visuals Included</a:t>
            </a:r>
          </a:p>
          <a:p>
            <a:pPr marL="0" marR="0" indent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2400" b="0" i="0" u="none" strike="noStrike">
                <a:latin typeface="+mn-lt"/>
                <a:cs typeface="+mn-cs"/>
              </a:rPr>
              <a:t>The dashboard includes the following visuals:</a:t>
            </a:r>
          </a:p>
          <a:p>
            <a:pPr marL="457200" marR="0" indent="-2286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SzPts val="2909"/>
              <a:buFont typeface="Symbol" pitchFamily="18" charset="2"/>
              <a:buChar char=""/>
            </a:pPr>
            <a:r>
              <a:rPr lang="en-IN" sz="2400" b="1" i="0" u="none" strike="noStrike">
                <a:latin typeface="+mn-lt"/>
                <a:cs typeface="+mn-cs"/>
              </a:rPr>
              <a:t>Line Chart – Sum of Sales by Year</a:t>
            </a:r>
            <a:br>
              <a:rPr lang="en-IN" sz="2400" b="0" i="0" u="none" strike="noStrike">
                <a:latin typeface="+mn-lt"/>
                <a:cs typeface="+mn-cs"/>
              </a:rPr>
            </a:br>
            <a:r>
              <a:rPr lang="en-IN" sz="2400" b="0" i="0" u="none" strike="noStrike">
                <a:latin typeface="+mn-lt"/>
                <a:cs typeface="+mn-cs"/>
              </a:rPr>
              <a:t>Shows sales trends over time.</a:t>
            </a:r>
          </a:p>
          <a:p>
            <a:pPr marL="457200" marR="0" indent="-2286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SzPts val="2909"/>
              <a:buFont typeface="Symbol" pitchFamily="18" charset="2"/>
              <a:buChar char=""/>
            </a:pPr>
            <a:r>
              <a:rPr lang="en-IN" sz="2400" b="1" i="0" u="none" strike="noStrike">
                <a:latin typeface="+mn-lt"/>
                <a:cs typeface="+mn-cs"/>
              </a:rPr>
              <a:t>Bar Chart – Profit by Category</a:t>
            </a:r>
            <a:br>
              <a:rPr lang="en-IN" sz="2400" b="0" i="0" u="none" strike="noStrike">
                <a:latin typeface="+mn-lt"/>
                <a:cs typeface="+mn-cs"/>
              </a:rPr>
            </a:br>
            <a:r>
              <a:rPr lang="en-IN" sz="2400" b="0" i="0" u="none" strike="noStrike">
                <a:latin typeface="+mn-lt"/>
                <a:cs typeface="+mn-cs"/>
              </a:rPr>
              <a:t>Compares profit across Technology, Furniture, and Office Supplies.</a:t>
            </a:r>
          </a:p>
          <a:p>
            <a:pPr marL="457200" marR="0" indent="-2286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SzPts val="2909"/>
              <a:buFont typeface="Symbol" pitchFamily="18" charset="2"/>
              <a:buChar char=""/>
            </a:pPr>
            <a:r>
              <a:rPr lang="en-IN" sz="2400" b="1" i="0" u="none" strike="noStrike">
                <a:latin typeface="+mn-lt"/>
                <a:cs typeface="+mn-cs"/>
              </a:rPr>
              <a:t>Tree Map – Sales by Sub-Category</a:t>
            </a:r>
            <a:br>
              <a:rPr lang="en-IN" sz="2400" b="0" i="0" u="none" strike="noStrike">
                <a:latin typeface="+mn-lt"/>
                <a:cs typeface="+mn-cs"/>
              </a:rPr>
            </a:br>
            <a:r>
              <a:rPr lang="en-IN" sz="2400" b="0" i="0" u="none" strike="noStrike">
                <a:latin typeface="+mn-lt"/>
                <a:cs typeface="+mn-cs"/>
              </a:rPr>
              <a:t>Highlights contribution of each sub-category to total sales.</a:t>
            </a:r>
          </a:p>
          <a:p>
            <a:pPr marL="457200" marR="0" indent="-2286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SzPts val="2909"/>
              <a:buFont typeface="Symbol" pitchFamily="18" charset="2"/>
              <a:buChar char=""/>
            </a:pPr>
            <a:r>
              <a:rPr lang="en-IN" sz="2400" b="1" i="0" u="none" strike="noStrike">
                <a:latin typeface="+mn-lt"/>
                <a:cs typeface="+mn-cs"/>
              </a:rPr>
              <a:t>Table – Sales Details</a:t>
            </a:r>
            <a:br>
              <a:rPr lang="en-IN" sz="2400" b="0" i="0" u="none" strike="noStrike">
                <a:latin typeface="+mn-lt"/>
                <a:cs typeface="+mn-cs"/>
              </a:rPr>
            </a:br>
            <a:r>
              <a:rPr lang="en-IN" sz="2400" b="0" i="0" u="none" strike="noStrike">
                <a:latin typeface="+mn-lt"/>
                <a:cs typeface="+mn-cs"/>
              </a:rPr>
              <a:t>Displays detailed sales and profit information.</a:t>
            </a:r>
            <a:endParaRPr lang="en-US" sz="2400" b="0" i="0" u="none" strike="noStrike">
              <a:latin typeface="+mn-lt"/>
              <a:cs typeface="+mn-cs"/>
            </a:endParaRPr>
          </a:p>
          <a:p>
            <a:pPr marL="457200" marR="0" indent="-2286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SzPts val="2909"/>
              <a:buFont typeface="Symbol" pitchFamily="18" charset="2"/>
              <a:buChar char=""/>
            </a:pPr>
            <a:r>
              <a:rPr lang="en-US" sz="2400" b="1" i="0" u="none" strike="noStrike">
                <a:latin typeface="+mn-lt"/>
                <a:cs typeface="+mn-cs"/>
              </a:rPr>
              <a:t>Column Chart – Profit by Category</a:t>
            </a:r>
          </a:p>
          <a:p>
            <a:pPr marL="228600" marR="0" indent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Font typeface="Symbol" pitchFamily="18" charset="2"/>
              <a:buNone/>
            </a:pPr>
            <a:r>
              <a:rPr lang="en-US" sz="2400" b="0" i="0" u="none" strike="noStrike">
                <a:latin typeface="+mn-lt"/>
                <a:cs typeface="+mn-cs"/>
              </a:rPr>
              <a:t>   Compares profit across Technology, Furniture, and Office Supplies.</a:t>
            </a:r>
          </a:p>
          <a:p>
            <a:pPr marL="457200" marR="0" indent="-2286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SzPts val="2909"/>
              <a:buFont typeface="Symbol" pitchFamily="18" charset="2"/>
              <a:buChar char=""/>
            </a:pPr>
            <a:r>
              <a:rPr lang="en-US" sz="2400" b="1" i="0" u="none" strike="noStrike">
                <a:latin typeface="+mn-lt"/>
                <a:cs typeface="+mn-cs"/>
              </a:rPr>
              <a:t>Donut Chart – Profit by Region</a:t>
            </a:r>
          </a:p>
          <a:p>
            <a:pPr marL="228600" marR="0" indent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Font typeface="Symbol" pitchFamily="18" charset="2"/>
              <a:buNone/>
            </a:pPr>
            <a:r>
              <a:rPr lang="en-US" sz="2400" b="0" i="0" u="none" strike="noStrike">
                <a:latin typeface="+mn-lt"/>
                <a:cs typeface="+mn-cs"/>
              </a:rPr>
              <a:t>  Shows percentage contribution of profit from each region (West, East, South, Central).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6170213"/>
          </a:xfrm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3200" b="1" i="0" u="sng" strike="noStrike">
                <a:solidFill>
                  <a:schemeClr val="accent1"/>
                </a:solidFill>
                <a:latin typeface="+mn-lt"/>
                <a:cs typeface="+mn-cs"/>
              </a:rPr>
              <a:t>Slide </a:t>
            </a:r>
            <a:r>
              <a:rPr lang="en-US" sz="3200" b="1" i="0" u="sng" strike="noStrike">
                <a:solidFill>
                  <a:schemeClr val="accent1"/>
                </a:solidFill>
                <a:latin typeface="+mn-lt"/>
                <a:cs typeface="+mn-cs"/>
              </a:rPr>
              <a:t>4</a:t>
            </a:r>
            <a:r>
              <a:rPr lang="en-IN" sz="3200" b="1" i="0" u="sng" strike="noStrike">
                <a:solidFill>
                  <a:schemeClr val="accent1"/>
                </a:solidFill>
                <a:latin typeface="+mn-lt"/>
                <a:cs typeface="+mn-cs"/>
              </a:rPr>
              <a:t> — Filters (Slicers) Used</a:t>
            </a:r>
          </a:p>
          <a:p>
            <a:pPr marL="0" marR="0" indent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3200" b="0" i="0" u="none" strike="noStrike">
                <a:latin typeface="+mn-lt"/>
                <a:cs typeface="+mn-cs"/>
              </a:rPr>
              <a:t>The dashboard is fully interactive using slicers:</a:t>
            </a:r>
          </a:p>
          <a:p>
            <a:pPr marL="457200" marR="0" indent="-2286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SzPts val="2909"/>
              <a:buFont typeface="Symbol" pitchFamily="18" charset="2"/>
              <a:buChar char=""/>
            </a:pPr>
            <a:r>
              <a:rPr lang="en-IN" sz="3200" b="1" i="0" u="none" strike="noStrike">
                <a:latin typeface="+mn-lt"/>
                <a:cs typeface="+mn-cs"/>
              </a:rPr>
              <a:t>Region:</a:t>
            </a:r>
            <a:r>
              <a:rPr lang="en-IN" sz="3200" b="0" i="0" u="none" strike="noStrike">
                <a:latin typeface="+mn-lt"/>
                <a:cs typeface="+mn-cs"/>
              </a:rPr>
              <a:t> Central, East, South, West</a:t>
            </a:r>
          </a:p>
          <a:p>
            <a:pPr marL="457200" marR="0" indent="-2286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SzPts val="2909"/>
              <a:buFont typeface="Symbol" pitchFamily="18" charset="2"/>
              <a:buChar char=""/>
            </a:pPr>
            <a:r>
              <a:rPr lang="en-IN" sz="3200" b="1" i="0" u="none" strike="noStrike">
                <a:latin typeface="+mn-lt"/>
                <a:cs typeface="+mn-cs"/>
              </a:rPr>
              <a:t>Category:</a:t>
            </a:r>
            <a:r>
              <a:rPr lang="en-IN" sz="3200" b="0" i="0" u="none" strike="noStrike">
                <a:latin typeface="+mn-lt"/>
                <a:cs typeface="+mn-cs"/>
              </a:rPr>
              <a:t> Furniture, Office Supplies, Technology</a:t>
            </a:r>
          </a:p>
          <a:p>
            <a:pPr marL="457200" marR="0" indent="-2286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SzPts val="2909"/>
              <a:buFont typeface="Symbol" pitchFamily="18" charset="2"/>
              <a:buChar char=""/>
            </a:pPr>
            <a:r>
              <a:rPr lang="en-IN" sz="3200" b="1" i="0" u="none" strike="noStrike">
                <a:latin typeface="+mn-lt"/>
                <a:cs typeface="+mn-cs"/>
              </a:rPr>
              <a:t>Order Date:</a:t>
            </a:r>
            <a:r>
              <a:rPr lang="en-IN" sz="3200" b="0" i="0" u="none" strike="noStrike">
                <a:latin typeface="+mn-lt"/>
                <a:cs typeface="+mn-cs"/>
              </a:rPr>
              <a:t> Year and Month</a:t>
            </a:r>
          </a:p>
          <a:p>
            <a:pPr marL="0" marR="0" indent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3200" b="0" i="0" u="none" strike="noStrike">
                <a:latin typeface="+mn-lt"/>
                <a:cs typeface="+mn-cs"/>
              </a:rPr>
              <a:t>These slicers allow users to filter and analyze data dynamically based on business needs.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207855" y="112987"/>
            <a:ext cx="11785294" cy="6611454"/>
          </a:xfrm>
          <a:prstGeom prst="rect">
            <a:avLst/>
          </a:prstGeom>
        </p:spPr>
        <p:txBody>
          <a:bodyPr/>
          <a:lstStyle/>
          <a:p>
            <a:r>
              <a:rPr sz="3000" b="1" u="sng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Slide </a:t>
            </a:r>
            <a:r>
              <a:rPr lang="en-US" sz="3000" b="1" u="sng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5</a:t>
            </a:r>
            <a:r>
              <a:rPr sz="3000" b="1" u="sng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— Dashboard Pages Explanation</a:t>
            </a:r>
            <a:endParaRPr lang="en-US" sz="3000" b="1" u="sng">
              <a:solidFill>
                <a:schemeClr val="accent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30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sz="3000" b="1">
                <a:latin typeface="Calibri" panose="020F0502020204030204"/>
                <a:ea typeface="Calibri" panose="020F0502020204030204"/>
                <a:cs typeface="Calibri" panose="020F0502020204030204"/>
              </a:rPr>
              <a:t>Page 1: Sales Overview</a:t>
            </a:r>
            <a:endParaRPr lang="en-US" sz="3000" b="1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30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 pitchFamily="34" charset="0" panose="020B0604020202020204"/>
              <a:buChar char="•"/>
            </a:pPr>
            <a:r>
              <a:rPr sz="3000">
                <a:latin typeface="Calibri" panose="020F0502020204030204"/>
                <a:ea typeface="Calibri" panose="020F0502020204030204"/>
                <a:cs typeface="Calibri" panose="020F0502020204030204"/>
              </a:rPr>
              <a:t>Displays KPIs (Sales, Profit, Growth %, Orders)</a:t>
            </a:r>
          </a:p>
          <a:p>
            <a:pPr marL="457200" indent="-457200">
              <a:buFont typeface="Arial" pitchFamily="34" charset="0" panose="020B0604020202020204"/>
              <a:buChar char="•"/>
            </a:pPr>
            <a:r>
              <a:rPr sz="3000">
                <a:latin typeface="Calibri" panose="020F0502020204030204"/>
                <a:ea typeface="Calibri" panose="020F0502020204030204"/>
                <a:cs typeface="Calibri" panose="020F0502020204030204"/>
              </a:rPr>
              <a:t>Shows overall sales trend</a:t>
            </a:r>
          </a:p>
          <a:p>
            <a:pPr marL="457200" indent="-457200">
              <a:buFont typeface="Arial" pitchFamily="34" charset="0" panose="020B0604020202020204"/>
              <a:buChar char="•"/>
            </a:pPr>
            <a:r>
              <a:rPr sz="3000">
                <a:latin typeface="Calibri" panose="020F0502020204030204"/>
                <a:ea typeface="Calibri" panose="020F0502020204030204"/>
                <a:cs typeface="Calibri" panose="020F0502020204030204"/>
              </a:rPr>
              <a:t>Category-wise sales</a:t>
            </a:r>
          </a:p>
          <a:p>
            <a:pPr marL="457200" indent="-457200">
              <a:buFont typeface="Arial" pitchFamily="34" charset="0" panose="020B0604020202020204"/>
              <a:buChar char="•"/>
            </a:pPr>
            <a:r>
              <a:rPr sz="3000">
                <a:latin typeface="Calibri" panose="020F0502020204030204"/>
                <a:ea typeface="Calibri" panose="020F0502020204030204"/>
                <a:cs typeface="Calibri" panose="020F0502020204030204"/>
              </a:rPr>
              <a:t>Region-wise profit distribution</a:t>
            </a:r>
          </a:p>
          <a:p>
            <a:pPr marL="457200" indent="-457200">
              <a:buFont typeface="Arial" pitchFamily="34" charset="0" panose="020B0604020202020204"/>
              <a:buChar char="•"/>
            </a:pPr>
            <a:r>
              <a:rPr sz="3000">
                <a:latin typeface="Calibri" panose="020F0502020204030204"/>
                <a:ea typeface="Calibri" panose="020F0502020204030204"/>
                <a:cs typeface="Calibri" panose="020F0502020204030204"/>
              </a:rPr>
              <a:t>High-level business summary</a:t>
            </a:r>
          </a:p>
          <a:p>
            <a:endParaRPr sz="3000" b="1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sz="3000" b="1">
                <a:latin typeface="Calibri" panose="020F0502020204030204"/>
                <a:ea typeface="Calibri" panose="020F0502020204030204"/>
                <a:cs typeface="Calibri" panose="020F0502020204030204"/>
              </a:rPr>
              <a:t>Page 2: Sales Analysis</a:t>
            </a:r>
            <a:endParaRPr lang="en-US" sz="3000" b="1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endParaRPr lang="en-US" sz="30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 pitchFamily="34" charset="0" panose="020B0604020202020204"/>
              <a:buChar char="•"/>
            </a:pPr>
            <a:r>
              <a:rPr sz="3000">
                <a:latin typeface="Calibri" panose="020F0502020204030204"/>
                <a:ea typeface="Calibri" panose="020F0502020204030204"/>
                <a:cs typeface="Calibri" panose="020F0502020204030204"/>
              </a:rPr>
              <a:t>Category-wise profit comparison</a:t>
            </a:r>
          </a:p>
          <a:p>
            <a:pPr marL="457200" indent="-457200">
              <a:buFont typeface="Arial" pitchFamily="34" charset="0" panose="020B0604020202020204"/>
              <a:buChar char="•"/>
            </a:pPr>
            <a:r>
              <a:rPr sz="3000">
                <a:latin typeface="Calibri" panose="020F0502020204030204"/>
                <a:ea typeface="Calibri" panose="020F0502020204030204"/>
                <a:cs typeface="Calibri" panose="020F0502020204030204"/>
              </a:rPr>
              <a:t>Sub-category performance analysis</a:t>
            </a:r>
          </a:p>
          <a:p>
            <a:pPr marL="457200" indent="-457200">
              <a:buFont typeface="Arial" pitchFamily="34" charset="0" panose="020B0604020202020204"/>
              <a:buChar char="•"/>
            </a:pPr>
            <a:r>
              <a:rPr sz="3000">
                <a:latin typeface="Calibri" panose="020F0502020204030204"/>
                <a:ea typeface="Calibri" panose="020F0502020204030204"/>
                <a:cs typeface="Calibri" panose="020F0502020204030204"/>
              </a:rPr>
              <a:t>Detailed sales table</a:t>
            </a:r>
          </a:p>
          <a:p>
            <a:pPr marL="457200" indent="-457200">
              <a:buFont typeface="Arial" pitchFamily="34" charset="0" panose="020B0604020202020204"/>
              <a:buChar char="•"/>
            </a:pPr>
            <a:r>
              <a:rPr sz="3000">
                <a:latin typeface="Calibri" panose="020F0502020204030204"/>
                <a:ea typeface="Calibri" panose="020F0502020204030204"/>
                <a:cs typeface="Calibri" panose="020F0502020204030204"/>
              </a:rPr>
              <a:t>Deeper insights for decision-making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6305286"/>
          </a:xfrm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3200" b="1" i="0" u="sng" strike="noStrike">
                <a:solidFill>
                  <a:schemeClr val="accent1"/>
                </a:solidFill>
                <a:latin typeface="+mn-lt"/>
                <a:cs typeface="+mn-cs"/>
              </a:rPr>
              <a:t>Slide </a:t>
            </a:r>
            <a:r>
              <a:rPr lang="en-US" sz="3200" b="1" i="0" u="sng" strike="noStrike">
                <a:solidFill>
                  <a:schemeClr val="accent1"/>
                </a:solidFill>
                <a:latin typeface="+mn-lt"/>
                <a:cs typeface="+mn-cs"/>
              </a:rPr>
              <a:t>6</a:t>
            </a:r>
            <a:r>
              <a:rPr lang="en-IN" sz="3200" b="1" i="0" u="sng" strike="noStrike">
                <a:solidFill>
                  <a:schemeClr val="accent1"/>
                </a:solidFill>
                <a:latin typeface="+mn-lt"/>
                <a:cs typeface="+mn-cs"/>
              </a:rPr>
              <a:t> — Key Insights</a:t>
            </a:r>
          </a:p>
          <a:p>
            <a:pPr marL="0" marR="0" indent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3200" b="0" i="0" u="none" strike="noStrike">
                <a:latin typeface="+mn-lt"/>
                <a:cs typeface="+mn-cs"/>
              </a:rPr>
              <a:t>Key insights derived from the dashboard:</a:t>
            </a:r>
          </a:p>
          <a:p>
            <a:pPr marL="457200" marR="0" indent="-4572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Font typeface="Arial" pitchFamily="34" charset="0" panose="020B0604020202020204"/>
              <a:buChar char="•"/>
            </a:pPr>
            <a:r>
              <a:rPr sz="3200">
                <a:latin typeface="Calibri" panose="020F0502020204030204"/>
                <a:ea typeface="Calibri" panose="020F0502020204030204"/>
                <a:cs typeface="Calibri" panose="020F0502020204030204"/>
              </a:rPr>
              <a:t>Sales show strong growth in recent years.</a:t>
            </a:r>
            <a:endParaRPr lang="en-US" sz="32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457200" marR="0" indent="-4572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Font typeface="Arial" pitchFamily="34" charset="0" panose="020B0604020202020204"/>
              <a:buChar char="•"/>
            </a:pPr>
            <a:r>
              <a:rPr sz="3200">
                <a:latin typeface="Calibri" panose="020F0502020204030204"/>
                <a:ea typeface="Calibri" panose="020F0502020204030204"/>
                <a:cs typeface="Calibri" panose="020F0502020204030204"/>
              </a:rPr>
              <a:t>Technology category generates the highest sales and profit.</a:t>
            </a:r>
            <a:endParaRPr lang="en-US" sz="32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457200" marR="0" indent="-4572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Font typeface="Arial" pitchFamily="34" charset="0" panose="020B0604020202020204"/>
              <a:buChar char="•"/>
            </a:pPr>
            <a:r>
              <a:rPr sz="3200">
                <a:latin typeface="Calibri" panose="020F0502020204030204"/>
                <a:ea typeface="Calibri" panose="020F0502020204030204"/>
                <a:cs typeface="Calibri" panose="020F0502020204030204"/>
              </a:rPr>
              <a:t>Certain regions contribute more to overall profit.</a:t>
            </a:r>
            <a:endParaRPr lang="en-US" sz="32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457200" marR="0" indent="-4572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Font typeface="Arial" pitchFamily="34" charset="0" panose="020B0604020202020204"/>
              <a:buChar char="•"/>
            </a:pPr>
            <a:r>
              <a:rPr sz="3200">
                <a:latin typeface="Calibri" panose="020F0502020204030204"/>
                <a:ea typeface="Calibri" panose="020F0502020204030204"/>
                <a:cs typeface="Calibri" panose="020F0502020204030204"/>
              </a:rPr>
              <a:t>Some sub-categories perform significantly better than others.</a:t>
            </a:r>
            <a:endParaRPr lang="en-US" sz="32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457200" marR="0" indent="-45720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Font typeface="Arial" pitchFamily="34" charset="0" panose="020B0604020202020204"/>
              <a:buChar char="•"/>
            </a:pPr>
            <a:r>
              <a:rPr sz="3200">
                <a:latin typeface="Calibri" panose="020F0502020204030204"/>
                <a:ea typeface="Calibri" panose="020F0502020204030204"/>
                <a:cs typeface="Calibri" panose="020F0502020204030204"/>
              </a:rPr>
              <a:t>Furniture category shows lower profit compared to other categories.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6287276"/>
          </a:xfrm>
          <a:prstGeom prst="rect">
            <a:avLst/>
          </a:prstGeom>
        </p:spPr>
        <p:txBody>
          <a:bodyPr/>
          <a:lstStyle/>
          <a:p>
            <a:r>
              <a:rPr sz="3200" b="1" u="sng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Slide </a:t>
            </a:r>
            <a:r>
              <a:rPr lang="en-US" sz="3200" b="1" u="sng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7</a:t>
            </a:r>
            <a:r>
              <a:rPr sz="3200" b="1" u="sng">
                <a:solidFill>
                  <a:schemeClr val="accent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 — Conclusion</a:t>
            </a:r>
          </a:p>
          <a:p>
            <a:endParaRPr sz="3200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r>
              <a:rPr sz="3200">
                <a:latin typeface="Calibri" panose="020F0502020204030204"/>
                <a:ea typeface="Calibri" panose="020F0502020204030204"/>
                <a:cs typeface="Calibri" panose="020F0502020204030204"/>
              </a:rPr>
              <a:t>This dashboard provides a clear overview of sales performance, profit trends, and category-wise analysis.</a:t>
            </a:r>
          </a:p>
          <a:p>
            <a:r>
              <a:rPr sz="3200">
                <a:latin typeface="Calibri" panose="020F0502020204030204"/>
                <a:ea typeface="Calibri" panose="020F0502020204030204"/>
                <a:cs typeface="Calibri" panose="020F0502020204030204"/>
              </a:rPr>
              <a:t>Interactive visuals and filters allow users to explore data easily and identify key business insights.</a:t>
            </a:r>
          </a:p>
          <a:p>
            <a:r>
              <a:rPr sz="3200">
                <a:latin typeface="Calibri" panose="020F0502020204030204"/>
                <a:ea typeface="Calibri" panose="020F0502020204030204"/>
                <a:cs typeface="Calibri" panose="020F0502020204030204"/>
              </a:rPr>
              <a:t>Overall, the dashboard supports informed and data-driven decision-making for business growth.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42333"/>
            <a:ext cx="12192000" cy="67733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16108" y="0"/>
            <a:ext cx="11759783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Mobile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Aafan kazi</dc:creator>
  <cp:lastModifiedBy>Aafan kazi</cp:lastModifiedBy>
  <cp:revision>1</cp:revision>
  <dcterms:created xsi:type="dcterms:W3CDTF">2025-12-15T19:07:55Z</dcterms:created>
  <dcterms:modified xsi:type="dcterms:W3CDTF">2025-12-15T19:58:03Z</dcterms:modified>
</cp:coreProperties>
</file>